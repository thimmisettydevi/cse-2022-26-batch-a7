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4"/>
  </p:notesMasterIdLst>
  <p:handoutMasterIdLst>
    <p:handoutMasterId r:id="rId15"/>
  </p:handoutMasterIdLst>
  <p:sldIdLst>
    <p:sldId id="267" r:id="rId3"/>
    <p:sldId id="257" r:id="rId4"/>
    <p:sldId id="278" r:id="rId5"/>
    <p:sldId id="258" r:id="rId6"/>
    <p:sldId id="259" r:id="rId7"/>
    <p:sldId id="260" r:id="rId8"/>
    <p:sldId id="261" r:id="rId9"/>
    <p:sldId id="263" r:id="rId10"/>
    <p:sldId id="264" r:id="rId11"/>
    <p:sldId id="265" r:id="rId12"/>
    <p:sldId id="266" r:id="rId13"/>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2" d="100"/>
          <a:sy n="82" d="100"/>
        </p:scale>
        <p:origin x="691" y="62"/>
      </p:cViewPr>
      <p:guideLst>
        <p:guide orient="horz" pos="2160"/>
        <p:guide pos="383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848C5687-E0BB-441F-9F68-A4FC0FD8F688}" type="datetimeFigureOut">
              <a:rPr lang="en-US" smtClean="0"/>
              <a:t>12/24/2025</a:t>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F5E09357-7375-46FE-89C7-E8FA13CA1D93}" type="slidenum">
              <a:rPr lang="en-US" smtClean="0"/>
              <a:t>‹#›</a:t>
            </a:fld>
            <a:endParaRPr lang="en-US"/>
          </a:p>
        </p:txBody>
      </p:sp>
    </p:spTree>
    <p:extLst>
      <p:ext uri="{BB962C8B-B14F-4D97-AF65-F5344CB8AC3E}">
        <p14:creationId xmlns:p14="http://schemas.microsoft.com/office/powerpoint/2010/main" val="6982449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92414672-7F74-4670-9356-5FF07953FE6B}" type="datetimeFigureOut">
              <a:rPr lang="en-US" smtClean="0"/>
              <a:t>12/24/2025</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28FC78BE-84F6-4F5F-974A-47A573FE285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0"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2"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3"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7"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8"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9"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1"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2"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3"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5"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7"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9"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0"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2"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3"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4"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5"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7"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8"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9"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0"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1"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2"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dirty="0">
              <a:solidFill>
                <a:srgbClr val="000000"/>
              </a:solidFill>
              <a:latin typeface="Calibri" panose="020F0502020204030204"/>
            </a:endParaRPr>
          </a:p>
        </p:txBody>
      </p:sp>
      <p:sp>
        <p:nvSpPr>
          <p:cNvPr id="52"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dirty="0">
              <a:latin typeface="Arial" panose="020B0604020202020204"/>
            </a:endParaRPr>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4"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6"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57"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1"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2"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3"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5"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7"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9"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0"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1"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3"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4"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6"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7"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8"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9"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1"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2"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3"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4"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5"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6"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Date Placeholder 3"/>
          <p:cNvSpPr/>
          <p:nvPr/>
        </p:nvSpPr>
        <p:spPr>
          <a:xfrm>
            <a:off x="777240" y="6634440"/>
            <a:ext cx="5781600" cy="220680"/>
          </a:xfrm>
          <a:prstGeom prst="rect">
            <a:avLst/>
          </a:prstGeom>
          <a:solidFill>
            <a:srgbClr val="002060"/>
          </a:solidFill>
          <a:ln w="0">
            <a:noFill/>
          </a:ln>
        </p:spPr>
        <p:style>
          <a:lnRef idx="0">
            <a:scrgbClr r="0" g="0" b="0"/>
          </a:lnRef>
          <a:fillRef idx="0">
            <a:scrgbClr r="0" g="0" b="0"/>
          </a:fillRef>
          <a:effectRef idx="0">
            <a:scrgbClr r="0" g="0" b="0"/>
          </a:effectRef>
          <a:fontRef idx="minor"/>
        </p:style>
      </p:sp>
      <p:sp>
        <p:nvSpPr>
          <p:cNvPr id="8" name="Date Placeholder 3"/>
          <p:cNvSpPr/>
          <p:nvPr/>
        </p:nvSpPr>
        <p:spPr>
          <a:xfrm>
            <a:off x="6559200" y="6634440"/>
            <a:ext cx="5194800" cy="220680"/>
          </a:xfrm>
          <a:prstGeom prst="rect">
            <a:avLst/>
          </a:prstGeom>
          <a:solidFill>
            <a:srgbClr val="008080"/>
          </a:solidFill>
          <a:ln w="0">
            <a:noFill/>
          </a:ln>
        </p:spPr>
        <p:style>
          <a:lnRef idx="0">
            <a:scrgbClr r="0" g="0" b="0"/>
          </a:lnRef>
          <a:fillRef idx="0">
            <a:scrgbClr r="0" g="0" b="0"/>
          </a:fillRef>
          <a:effectRef idx="0">
            <a:scrgbClr r="0" g="0" b="0"/>
          </a:effectRef>
          <a:fontRef idx="minor"/>
        </p:style>
      </p:sp>
      <p:sp>
        <p:nvSpPr>
          <p:cNvPr id="2" name="Date Placeholder 3"/>
          <p:cNvSpPr/>
          <p:nvPr/>
        </p:nvSpPr>
        <p:spPr>
          <a:xfrm>
            <a:off x="11754360" y="6636960"/>
            <a:ext cx="437400" cy="220680"/>
          </a:xfrm>
          <a:prstGeom prst="rect">
            <a:avLst/>
          </a:prstGeom>
          <a:solidFill>
            <a:schemeClr val="accent4"/>
          </a:solidFill>
          <a:ln w="0">
            <a:noFill/>
          </a:ln>
        </p:spPr>
        <p:style>
          <a:lnRef idx="0">
            <a:scrgbClr r="0" g="0" b="0"/>
          </a:lnRef>
          <a:fillRef idx="0">
            <a:scrgbClr r="0" g="0" b="0"/>
          </a:fillRef>
          <a:effectRef idx="0">
            <a:scrgbClr r="0" g="0" b="0"/>
          </a:effectRef>
          <a:fontRef idx="minor"/>
        </p:style>
      </p:sp>
      <p:sp>
        <p:nvSpPr>
          <p:cNvPr id="3"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sp>
      <p:sp>
        <p:nvSpPr>
          <p:cNvPr id="4" name="Date Placeholder 3"/>
          <p:cNvSpPr/>
          <p:nvPr/>
        </p:nvSpPr>
        <p:spPr>
          <a:xfrm>
            <a:off x="0" y="6634440"/>
            <a:ext cx="776880" cy="22104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sp>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800" b="0" strike="noStrike" spc="-1">
                <a:solidFill>
                  <a:srgbClr val="000000"/>
                </a:solidFill>
                <a:latin typeface="Calibri" panose="020F0502020204030204"/>
              </a:rPr>
              <a:t>Click to edit the title text format</a:t>
            </a: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lgn="just">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Times New Roman" panose="02020603050405020304"/>
              </a:rPr>
              <a:t>Click to edit the outline text format</a:t>
            </a:r>
          </a:p>
          <a:p>
            <a:pPr marL="864235" lvl="1" indent="-323850" algn="just">
              <a:spcBef>
                <a:spcPts val="1135"/>
              </a:spcBef>
              <a:buClr>
                <a:srgbClr val="000000"/>
              </a:buClr>
              <a:buSzPct val="75000"/>
              <a:buFont typeface="Symbol" panose="05050102010706020507" charset="2"/>
              <a:buChar char=""/>
            </a:pPr>
            <a:r>
              <a:rPr lang="en-US" sz="2000" b="0" strike="noStrike" spc="-1">
                <a:solidFill>
                  <a:srgbClr val="000000"/>
                </a:solidFill>
                <a:latin typeface="Times New Roman" panose="02020603050405020304"/>
              </a:rPr>
              <a:t>Second Outline Level</a:t>
            </a:r>
          </a:p>
          <a:p>
            <a:pPr marL="1296035" lvl="2" indent="-288290" algn="just">
              <a:spcBef>
                <a:spcPts val="850"/>
              </a:spcBef>
              <a:buClr>
                <a:srgbClr val="000000"/>
              </a:buClr>
              <a:buSzPct val="45000"/>
              <a:buFont typeface="Wingdings" panose="05000000000000000000" pitchFamily="2" charset="2"/>
              <a:buChar char=""/>
            </a:pPr>
            <a:r>
              <a:rPr lang="en-US" sz="1800" b="0" strike="noStrike" spc="-1">
                <a:solidFill>
                  <a:srgbClr val="000000"/>
                </a:solidFill>
                <a:latin typeface="Times New Roman" panose="02020603050405020304"/>
              </a:rPr>
              <a:t>Third Outline Level</a:t>
            </a:r>
          </a:p>
          <a:p>
            <a:pPr marL="1727835" lvl="3" indent="-215900" algn="just">
              <a:spcBef>
                <a:spcPts val="565"/>
              </a:spcBef>
              <a:buClr>
                <a:srgbClr val="000000"/>
              </a:buClr>
              <a:buSzPct val="75000"/>
              <a:buFont typeface="Symbol" panose="05050102010706020507" charset="2"/>
              <a:buChar char=""/>
            </a:pPr>
            <a:r>
              <a:rPr lang="en-US" sz="1800" b="0" strike="noStrike" spc="-1">
                <a:solidFill>
                  <a:srgbClr val="000000"/>
                </a:solidFill>
                <a:latin typeface="Times New Roman" panose="02020603050405020304"/>
              </a:rPr>
              <a:t>Fourth Outline Level</a:t>
            </a:r>
          </a:p>
          <a:p>
            <a:pPr marL="2160270" lvl="4"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Fifth Outline Level</a:t>
            </a:r>
          </a:p>
          <a:p>
            <a:pPr marL="2592070" lvl="5"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Sixth Outline Level</a:t>
            </a:r>
          </a:p>
          <a:p>
            <a:pPr marL="3023870" lvl="6"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0" y="232460"/>
            <a:ext cx="12191760" cy="71506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Click to edit Master title style</a:t>
            </a:r>
            <a:endParaRPr lang="en-US" sz="4400" b="0" strike="noStrike" spc="-1" dirty="0">
              <a:solidFill>
                <a:srgbClr val="000000"/>
              </a:solidFill>
              <a:latin typeface="Calibri" panose="020F0502020204030204"/>
            </a:endParaRPr>
          </a:p>
        </p:txBody>
      </p:sp>
      <p:sp>
        <p:nvSpPr>
          <p:cNvPr id="44" name="PlaceHolder 2"/>
          <p:cNvSpPr>
            <a:spLocks noGrp="1"/>
          </p:cNvSpPr>
          <p:nvPr>
            <p:ph type="body"/>
          </p:nvPr>
        </p:nvSpPr>
        <p:spPr>
          <a:xfrm>
            <a:off x="199440" y="1097280"/>
            <a:ext cx="11778840" cy="5394600"/>
          </a:xfrm>
          <a:prstGeom prst="rect">
            <a:avLst/>
          </a:prstGeom>
          <a:noFill/>
          <a:ln w="0">
            <a:noFill/>
          </a:ln>
        </p:spPr>
        <p:txBody>
          <a:bodyPr anchor="t">
            <a:noAutofit/>
          </a:bodyPr>
          <a:lstStyle/>
          <a:p>
            <a:pPr marL="228600" indent="-228600" algn="just">
              <a:lnSpc>
                <a:spcPct val="90000"/>
              </a:lnSpc>
              <a:spcBef>
                <a:spcPts val="1000"/>
              </a:spcBef>
              <a:buClr>
                <a:srgbClr val="000000"/>
              </a:buClr>
              <a:buFont typeface="Wingdings" panose="05000000000000000000" pitchFamily="2" charset="2"/>
              <a:buChar char=""/>
            </a:pPr>
            <a:r>
              <a:rPr lang="en-US" sz="2800" b="0" strike="noStrike" spc="-1" dirty="0">
                <a:solidFill>
                  <a:srgbClr val="000000"/>
                </a:solidFill>
                <a:latin typeface="Times New Roman" panose="02020603050405020304"/>
              </a:rPr>
              <a:t>Edit Master text styles</a:t>
            </a:r>
          </a:p>
          <a:p>
            <a:pPr marL="685800" lvl="1" indent="-228600" algn="just">
              <a:lnSpc>
                <a:spcPct val="90000"/>
              </a:lnSpc>
              <a:spcBef>
                <a:spcPts val="500"/>
              </a:spcBef>
              <a:buClr>
                <a:srgbClr val="000000"/>
              </a:buClr>
              <a:buFont typeface="Wingdings" panose="05000000000000000000" pitchFamily="2" charset="2"/>
              <a:buChar char=""/>
            </a:pPr>
            <a:r>
              <a:rPr lang="en-US" sz="2400" b="0" strike="noStrike" spc="-1" dirty="0">
                <a:solidFill>
                  <a:srgbClr val="000000"/>
                </a:solidFill>
                <a:latin typeface="Times New Roman" panose="02020603050405020304"/>
              </a:rPr>
              <a:t>Second level</a:t>
            </a:r>
          </a:p>
          <a:p>
            <a:pPr marL="1143000" lvl="2" indent="-228600" algn="just">
              <a:lnSpc>
                <a:spcPct val="90000"/>
              </a:lnSpc>
              <a:spcBef>
                <a:spcPts val="500"/>
              </a:spcBef>
              <a:buClr>
                <a:srgbClr val="000000"/>
              </a:buClr>
              <a:buFont typeface="Courier New" panose="02070309020205020404"/>
              <a:buChar char="o"/>
            </a:pPr>
            <a:r>
              <a:rPr lang="en-US" sz="2000" b="0" strike="noStrike" spc="-1" dirty="0">
                <a:solidFill>
                  <a:srgbClr val="000000"/>
                </a:solidFill>
                <a:latin typeface="Times New Roman" panose="02020603050405020304"/>
              </a:rPr>
              <a:t>Third level</a:t>
            </a:r>
          </a:p>
          <a:p>
            <a:pPr marL="1600200" lvl="3" indent="-228600" algn="just">
              <a:lnSpc>
                <a:spcPct val="90000"/>
              </a:lnSpc>
              <a:spcBef>
                <a:spcPts val="500"/>
              </a:spcBef>
              <a:buClr>
                <a:srgbClr val="000000"/>
              </a:buClr>
              <a:buFont typeface="Wingdings" panose="05000000000000000000" pitchFamily="2" charset="2"/>
              <a:buChar char=""/>
            </a:pPr>
            <a:r>
              <a:rPr lang="en-US" sz="1800" b="0" strike="noStrike" spc="-1" dirty="0">
                <a:solidFill>
                  <a:srgbClr val="000000"/>
                </a:solidFill>
                <a:latin typeface="Times New Roman" panose="02020603050405020304"/>
              </a:rPr>
              <a:t>Fourth level</a:t>
            </a:r>
          </a:p>
          <a:p>
            <a:pPr marL="2057400" lvl="4" indent="-228600" algn="just">
              <a:lnSpc>
                <a:spcPct val="90000"/>
              </a:lnSpc>
              <a:spcBef>
                <a:spcPts val="500"/>
              </a:spcBef>
              <a:buClr>
                <a:srgbClr val="000000"/>
              </a:buClr>
              <a:buFont typeface="Arial" panose="020B0604020202020204"/>
              <a:buChar char="•"/>
            </a:pPr>
            <a:r>
              <a:rPr lang="en-US" sz="1800" b="0" strike="noStrike" spc="-1" dirty="0">
                <a:solidFill>
                  <a:srgbClr val="000000"/>
                </a:solidFill>
                <a:latin typeface="Times New Roman" panose="02020603050405020304"/>
              </a:rPr>
              <a:t>Fifth level</a:t>
            </a:r>
          </a:p>
        </p:txBody>
      </p:sp>
      <p:sp>
        <p:nvSpPr>
          <p:cNvPr id="45" name="Date Placeholder 3"/>
          <p:cNvSpPr/>
          <p:nvPr/>
        </p:nvSpPr>
        <p:spPr>
          <a:xfrm>
            <a:off x="777240" y="6642720"/>
            <a:ext cx="5653800" cy="214920"/>
          </a:xfrm>
          <a:prstGeom prst="rect">
            <a:avLst/>
          </a:prstGeom>
          <a:solidFill>
            <a:srgbClr val="00206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Dept. of Computer Science and Engineering</a:t>
            </a:r>
            <a:endParaRPr lang="en-IN" sz="1600" b="0" strike="noStrike" spc="-1" dirty="0">
              <a:latin typeface="Arial" panose="020B0604020202020204"/>
            </a:endParaRPr>
          </a:p>
        </p:txBody>
      </p:sp>
      <p:sp>
        <p:nvSpPr>
          <p:cNvPr id="46" name="Date Placeholder 3"/>
          <p:cNvSpPr/>
          <p:nvPr/>
        </p:nvSpPr>
        <p:spPr>
          <a:xfrm>
            <a:off x="6431400" y="6642000"/>
            <a:ext cx="5322600" cy="215640"/>
          </a:xfrm>
          <a:prstGeom prst="rect">
            <a:avLst/>
          </a:prstGeom>
          <a:solidFill>
            <a:srgbClr val="00808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a:solidFill>
                  <a:srgbClr val="FFFFFF"/>
                </a:solidFill>
                <a:latin typeface="Times New Roman" panose="02020603050405020304"/>
              </a:rPr>
              <a:t>Srinivasa Ramanujan Institute of Technology</a:t>
            </a:r>
            <a:endParaRPr lang="en-IN" sz="1600" b="0" strike="noStrike" spc="-1">
              <a:latin typeface="Arial" panose="020B0604020202020204"/>
            </a:endParaRPr>
          </a:p>
        </p:txBody>
      </p:sp>
      <p:sp>
        <p:nvSpPr>
          <p:cNvPr id="47" name="Date Placeholder 3"/>
          <p:cNvSpPr/>
          <p:nvPr/>
        </p:nvSpPr>
        <p:spPr>
          <a:xfrm>
            <a:off x="11623040" y="6642100"/>
            <a:ext cx="568960" cy="21590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fld id="{287FBA57-AD8A-4D8D-8881-00EAA4F18DD5}" type="slidenum">
              <a:rPr lang="en-IN" sz="1600" b="1" strike="noStrike" spc="-1">
                <a:solidFill>
                  <a:srgbClr val="002060"/>
                </a:solidFill>
                <a:latin typeface="Times New Roman" panose="02020603050405020304"/>
              </a:rPr>
              <a:t>‹#›</a:t>
            </a:fld>
            <a:endParaRPr lang="en-IN" sz="1600" b="0" strike="noStrike" spc="-1">
              <a:latin typeface="Arial" panose="020B0604020202020204"/>
            </a:endParaRPr>
          </a:p>
        </p:txBody>
      </p:sp>
      <p:sp>
        <p:nvSpPr>
          <p:cNvPr id="48" name="Date Placeholder 3"/>
          <p:cNvSpPr/>
          <p:nvPr/>
        </p:nvSpPr>
        <p:spPr>
          <a:xfrm>
            <a:off x="0" y="0"/>
            <a:ext cx="12191760" cy="232460"/>
          </a:xfrm>
          <a:prstGeom prst="rect">
            <a:avLst/>
          </a:prstGeom>
          <a:solidFill>
            <a:srgbClr val="006666"/>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500" b="1" i="1" strike="noStrike" spc="-1" dirty="0" smtClean="0">
                <a:solidFill>
                  <a:srgbClr val="FFFFFF"/>
                </a:solidFill>
                <a:latin typeface="Times New Roman" panose="02020603050405020304"/>
              </a:rPr>
              <a:t>InternXpert</a:t>
            </a:r>
            <a:r>
              <a:rPr lang="en-US" sz="1500" b="1" i="1" strike="noStrike" spc="-1" baseline="0" dirty="0" smtClean="0">
                <a:solidFill>
                  <a:srgbClr val="FFFFFF"/>
                </a:solidFill>
                <a:latin typeface="Times New Roman" panose="02020603050405020304"/>
              </a:rPr>
              <a:t> – Smart Internship Explorer and Verification Portal</a:t>
            </a:r>
            <a:endParaRPr lang="en-IN" sz="1500" b="0" strike="noStrike" spc="-1" dirty="0">
              <a:latin typeface="Arial" panose="020B0604020202020204"/>
            </a:endParaRPr>
          </a:p>
        </p:txBody>
      </p:sp>
      <p:pic>
        <p:nvPicPr>
          <p:cNvPr id="49" name="Picture 5"/>
          <p:cNvPicPr/>
          <p:nvPr/>
        </p:nvPicPr>
        <p:blipFill>
          <a:blip r:embed="rId14" cstate="print"/>
          <a:stretch>
            <a:fillRect/>
          </a:stretch>
        </p:blipFill>
        <p:spPr>
          <a:xfrm>
            <a:off x="11506320" y="5956200"/>
            <a:ext cx="685440" cy="685440"/>
          </a:xfrm>
          <a:prstGeom prst="rect">
            <a:avLst/>
          </a:prstGeom>
          <a:ln w="0">
            <a:noFill/>
          </a:ln>
        </p:spPr>
      </p:pic>
      <p:sp>
        <p:nvSpPr>
          <p:cNvPr id="50" name="Date Placeholder 3"/>
          <p:cNvSpPr/>
          <p:nvPr/>
        </p:nvSpPr>
        <p:spPr>
          <a:xfrm>
            <a:off x="0" y="6642735"/>
            <a:ext cx="932815" cy="21463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A - </a:t>
            </a:r>
            <a:r>
              <a:rPr lang="en-US" sz="1600" b="0" strike="noStrike" cap="small" spc="-1" dirty="0" smtClean="0">
                <a:solidFill>
                  <a:srgbClr val="FFFFFF"/>
                </a:solidFill>
                <a:latin typeface="Times New Roman" panose="02020603050405020304"/>
              </a:rPr>
              <a:t>7</a:t>
            </a:r>
            <a:endParaRPr lang="en-IN" sz="1600" b="0" strike="noStrike" spc="-1" dirty="0">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iming>
    <p:tnLst>
      <p:par>
        <p:cTn id="1" dur="indefinite" restart="never" nodeType="tmRoot"/>
      </p:par>
    </p:tnLst>
  </p:timing>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ThimmisettyDevi/CSE-2022-26-Batch-A7" TargetMode="Externa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7848600" y="1783000"/>
            <a:ext cx="3151922" cy="863888"/>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4000" b="0" dirty="0" smtClean="0">
                <a:effectLst>
                  <a:outerShdw blurRad="38100" dist="38100" dir="2700000" algn="tl">
                    <a:srgbClr val="000000">
                      <a:alpha val="43137"/>
                    </a:srgbClr>
                  </a:outerShdw>
                </a:effectLst>
              </a:rPr>
              <a:t>S. NANDAVARDHAN REDDY</a:t>
            </a:r>
            <a:endParaRPr lang="en-US" sz="4000" b="0" dirty="0">
              <a:effectLst>
                <a:outerShdw blurRad="38100" dist="38100" dir="2700000" algn="tl">
                  <a:srgbClr val="000000">
                    <a:alpha val="43137"/>
                  </a:srgbClr>
                </a:outerShdw>
              </a:effectLst>
            </a:endParaRPr>
          </a:p>
          <a:p>
            <a:pPr>
              <a:spcBef>
                <a:spcPts val="300"/>
              </a:spcBef>
            </a:pPr>
            <a:r>
              <a:rPr lang="en-US" sz="2200" b="0" dirty="0"/>
              <a:t>Roll No. </a:t>
            </a:r>
            <a:r>
              <a:rPr lang="en-US" sz="2200" b="0" dirty="0" smtClean="0"/>
              <a:t>224G1A0556</a:t>
            </a:r>
            <a:endParaRPr lang="en-US" sz="2200" b="0" dirty="0"/>
          </a:p>
        </p:txBody>
      </p:sp>
      <p:sp>
        <p:nvSpPr>
          <p:cNvPr id="6" name="Subtitle 11"/>
          <p:cNvSpPr txBox="1"/>
          <p:nvPr/>
        </p:nvSpPr>
        <p:spPr>
          <a:xfrm>
            <a:off x="3505200" y="2475580"/>
            <a:ext cx="5486400"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200" b="0" dirty="0" smtClean="0">
                <a:effectLst>
                  <a:outerShdw blurRad="38100" dist="38100" dir="2700000" algn="tl">
                    <a:srgbClr val="000000">
                      <a:alpha val="43137"/>
                    </a:srgbClr>
                  </a:outerShdw>
                </a:effectLst>
              </a:rPr>
              <a:t>Mr. K. LOKESHNATH, M.Tech (Ph.D.)</a:t>
            </a:r>
          </a:p>
          <a:p>
            <a:pPr>
              <a:spcBef>
                <a:spcPts val="200"/>
              </a:spcBef>
            </a:pPr>
            <a:r>
              <a:rPr lang="en-IN" sz="1800" b="0" dirty="0" smtClean="0">
                <a:effectLst>
                  <a:outerShdw blurRad="38100" dist="38100" dir="2700000" algn="tl">
                    <a:srgbClr val="000000">
                      <a:alpha val="43137"/>
                    </a:srgbClr>
                  </a:outerShdw>
                </a:effectLst>
              </a:rPr>
              <a:t>Assistant Professor</a:t>
            </a:r>
            <a:endParaRPr lang="en-IN" sz="1800" b="0" dirty="0">
              <a:effectLst>
                <a:outerShdw blurRad="38100" dist="38100" dir="2700000" algn="tl">
                  <a:srgbClr val="000000">
                    <a:alpha val="43137"/>
                  </a:srgbClr>
                </a:outerShdw>
              </a:effectLst>
            </a:endParaRPr>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300" dirty="0"/>
              <a:t>Rotarypuram Village, B K Samudram Mandal, Ananthapuramu – 515701.</a:t>
            </a:r>
          </a:p>
          <a:p>
            <a:pPr>
              <a:spcAft>
                <a:spcPts val="100"/>
              </a:spcAft>
            </a:pPr>
            <a:r>
              <a:rPr lang="en-US" sz="2500" dirty="0">
                <a:solidFill>
                  <a:schemeClr val="accent1">
                    <a:lumMod val="50000"/>
                  </a:schemeClr>
                </a:solidFill>
              </a:rPr>
              <a:t>2025-2026</a:t>
            </a:r>
            <a:endParaRPr lang="en-US" sz="2500" b="0" dirty="0"/>
          </a:p>
          <a:p>
            <a:endParaRPr lang="en-IN" b="0" dirty="0"/>
          </a:p>
        </p:txBody>
      </p:sp>
      <p:sp>
        <p:nvSpPr>
          <p:cNvPr id="12" name="Subtitle 11"/>
          <p:cNvSpPr txBox="1"/>
          <p:nvPr/>
        </p:nvSpPr>
        <p:spPr>
          <a:xfrm>
            <a:off x="4495800" y="1783000"/>
            <a:ext cx="3352800" cy="692580"/>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4600" b="0" dirty="0">
                <a:effectLst>
                  <a:outerShdw blurRad="38100" dist="38100" dir="2700000" algn="tl">
                    <a:srgbClr val="000000">
                      <a:alpha val="43137"/>
                    </a:srgbClr>
                  </a:outerShdw>
                </a:effectLst>
              </a:rPr>
              <a:t>V</a:t>
            </a:r>
            <a:r>
              <a:rPr lang="en-IN" sz="4600" b="0" dirty="0" smtClean="0">
                <a:effectLst>
                  <a:outerShdw blurRad="38100" dist="38100" dir="2700000" algn="tl">
                    <a:srgbClr val="000000">
                      <a:alpha val="43137"/>
                    </a:srgbClr>
                  </a:outerShdw>
                </a:effectLst>
              </a:rPr>
              <a:t>. SAI GANESH REDDY</a:t>
            </a:r>
            <a:endParaRPr lang="en-US" sz="4600" b="0" dirty="0">
              <a:effectLst>
                <a:outerShdw blurRad="38100" dist="38100" dir="2700000" algn="tl">
                  <a:srgbClr val="000000">
                    <a:alpha val="43137"/>
                  </a:srgbClr>
                </a:outerShdw>
              </a:effectLst>
            </a:endParaRPr>
          </a:p>
          <a:p>
            <a:pPr>
              <a:spcBef>
                <a:spcPts val="300"/>
              </a:spcBef>
            </a:pPr>
            <a:r>
              <a:rPr lang="en-US" sz="2500" b="0" dirty="0"/>
              <a:t>Roll No. </a:t>
            </a:r>
            <a:r>
              <a:rPr lang="en-US" sz="2500" b="0" dirty="0" smtClean="0"/>
              <a:t>224G1A0589</a:t>
            </a:r>
            <a:endParaRPr lang="en-US" sz="2500" b="0" dirty="0"/>
          </a:p>
        </p:txBody>
      </p:sp>
      <p:sp>
        <p:nvSpPr>
          <p:cNvPr id="13" name="Subtitle 11"/>
          <p:cNvSpPr txBox="1"/>
          <p:nvPr/>
        </p:nvSpPr>
        <p:spPr>
          <a:xfrm>
            <a:off x="8617598"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800" b="0" dirty="0"/>
          </a:p>
        </p:txBody>
      </p:sp>
      <p:sp>
        <p:nvSpPr>
          <p:cNvPr id="14" name="Subtitle 11"/>
          <p:cNvSpPr txBox="1"/>
          <p:nvPr/>
        </p:nvSpPr>
        <p:spPr>
          <a:xfrm>
            <a:off x="1676400" y="1722075"/>
            <a:ext cx="2382924" cy="584534"/>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200" b="0" dirty="0" smtClean="0">
                <a:effectLst>
                  <a:outerShdw blurRad="38100" dist="38100" dir="2700000" algn="tl">
                    <a:srgbClr val="000000">
                      <a:alpha val="43137"/>
                    </a:srgbClr>
                  </a:outerShdw>
                </a:effectLst>
              </a:rPr>
              <a:t>T. DEVI SREE</a:t>
            </a:r>
            <a:endParaRPr lang="en-US" sz="2200" b="0" dirty="0">
              <a:effectLst>
                <a:outerShdw blurRad="38100" dist="38100" dir="2700000" algn="tl">
                  <a:srgbClr val="000000">
                    <a:alpha val="43137"/>
                  </a:srgbClr>
                </a:outerShdw>
              </a:effectLst>
            </a:endParaRPr>
          </a:p>
          <a:p>
            <a:pPr>
              <a:spcBef>
                <a:spcPts val="300"/>
              </a:spcBef>
            </a:pPr>
            <a:r>
              <a:rPr lang="en-US" sz="1200" b="0" dirty="0"/>
              <a:t>Roll No. </a:t>
            </a:r>
            <a:r>
              <a:rPr lang="en-US" sz="1200" b="0" dirty="0" smtClean="0"/>
              <a:t>224G1A0516</a:t>
            </a:r>
            <a:endParaRPr lang="en-US" sz="1200" b="0" dirty="0"/>
          </a:p>
        </p:txBody>
      </p:sp>
      <p:sp>
        <p:nvSpPr>
          <p:cNvPr id="17"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28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InternXpert </a:t>
            </a:r>
            <a:r>
              <a:rPr lang="en-IN"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Smart Internship </a:t>
            </a:r>
            <a:r>
              <a:rPr lang="en-IN" sz="28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Explorer and Verification Portal</a:t>
            </a:r>
            <a:endParaRPr lang="en-IN"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idx="4294967295"/>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Contents</a:t>
            </a:r>
            <a:endParaRPr lang="en-US" sz="4400" b="0" strike="noStrike" spc="-1" dirty="0">
              <a:solidFill>
                <a:srgbClr val="000000"/>
              </a:solidFill>
              <a:latin typeface="Calibri" panose="020F0502020204030204"/>
            </a:endParaRPr>
          </a:p>
        </p:txBody>
      </p:sp>
      <p:sp>
        <p:nvSpPr>
          <p:cNvPr id="98" name="PlaceHolder 2"/>
          <p:cNvSpPr>
            <a:spLocks noGrp="1"/>
          </p:cNvSpPr>
          <p:nvPr>
            <p:ph idx="4294967295"/>
          </p:nvPr>
        </p:nvSpPr>
        <p:spPr>
          <a:xfrm>
            <a:off x="199440" y="1097280"/>
            <a:ext cx="11778840" cy="5394600"/>
          </a:xfrm>
          <a:prstGeom prst="rect">
            <a:avLst/>
          </a:prstGeom>
          <a:noFill/>
          <a:ln w="0">
            <a:noFill/>
          </a:ln>
        </p:spPr>
        <p:txBody>
          <a:bodyPr anchor="t">
            <a:noAutofit/>
          </a:bodyPr>
          <a:lstStyle/>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Title Justification</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Abstract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Problem statement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Objectives of Project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Literature survey for objectives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Proposed Work -(Methods to be followed for proposed system) </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References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GitHub Link</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Queries</a:t>
            </a:r>
          </a:p>
          <a:p>
            <a:pPr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dirty="0">
                <a:solidFill>
                  <a:schemeClr val="bg1"/>
                </a:solidFill>
                <a:latin typeface="Times New Roman" panose="02020603050405020304"/>
                <a:sym typeface="+mn-ea"/>
              </a:rPr>
              <a:t>Title Justification</a:t>
            </a:r>
            <a:endParaRPr lang="en-US" sz="4400" b="0" strike="noStrike" spc="-1" dirty="0">
              <a:solidFill>
                <a:schemeClr val="bg1"/>
              </a:solidFill>
              <a:latin typeface="Calibri" panose="020F0502020204030204"/>
            </a:endParaRPr>
          </a:p>
        </p:txBody>
      </p:sp>
      <p:sp>
        <p:nvSpPr>
          <p:cNvPr id="98" name="PlaceHolder 2"/>
          <p:cNvSpPr>
            <a:spLocks noGrp="1"/>
          </p:cNvSpPr>
          <p:nvPr>
            <p:ph/>
          </p:nvPr>
        </p:nvSpPr>
        <p:spPr>
          <a:xfrm>
            <a:off x="199440" y="1097280"/>
            <a:ext cx="11778840" cy="5394600"/>
          </a:xfrm>
          <a:prstGeom prst="rect">
            <a:avLst/>
          </a:prstGeom>
          <a:noFill/>
          <a:ln w="0">
            <a:noFill/>
          </a:ln>
        </p:spPr>
        <p:txBody>
          <a:bodyPr anchor="t">
            <a:noAutofit/>
          </a:bodyPr>
          <a:lstStyle/>
          <a:p>
            <a:pPr algn="just">
              <a:lnSpc>
                <a:spcPct val="90000"/>
              </a:lnSpc>
              <a:spcBef>
                <a:spcPts val="1000"/>
              </a:spcBef>
              <a:tabLst>
                <a:tab pos="0" algn="l"/>
              </a:tabLst>
            </a:pPr>
            <a:r>
              <a:rPr lang="en-US" sz="2800" b="1" strike="noStrike" spc="-1" dirty="0" smtClean="0">
                <a:solidFill>
                  <a:srgbClr val="000000"/>
                </a:solidFill>
                <a:latin typeface="Times New Roman" panose="02020603050405020304"/>
              </a:rPr>
              <a:t>Project Title: </a:t>
            </a:r>
          </a:p>
          <a:p>
            <a:pPr algn="l">
              <a:lnSpc>
                <a:spcPct val="90000"/>
              </a:lnSpc>
              <a:spcBef>
                <a:spcPts val="1000"/>
              </a:spcBef>
              <a:tabLst>
                <a:tab pos="0" algn="l"/>
              </a:tabLst>
            </a:pPr>
            <a:r>
              <a:rPr lang="en-US" sz="2800" spc="-1" dirty="0">
                <a:solidFill>
                  <a:srgbClr val="000000"/>
                </a:solidFill>
                <a:latin typeface="Times New Roman" panose="02020603050405020304"/>
              </a:rPr>
              <a:t>	</a:t>
            </a:r>
            <a:r>
              <a:rPr lang="en-US" sz="2800" spc="-1" dirty="0" smtClean="0">
                <a:solidFill>
                  <a:srgbClr val="000000"/>
                </a:solidFill>
                <a:latin typeface="Times New Roman" panose="02020603050405020304"/>
              </a:rPr>
              <a:t>	</a:t>
            </a:r>
            <a:r>
              <a:rPr lang="en-US" sz="2600" strike="noStrike" spc="-1" dirty="0" smtClean="0">
                <a:solidFill>
                  <a:srgbClr val="000000"/>
                </a:solidFill>
                <a:latin typeface="Times New Roman" panose="02020603050405020304"/>
              </a:rPr>
              <a:t>InternXpert – Smart Internship Explorer and Verification Portal</a:t>
            </a:r>
          </a:p>
          <a:p>
            <a:pPr algn="just">
              <a:lnSpc>
                <a:spcPct val="90000"/>
              </a:lnSpc>
              <a:spcBef>
                <a:spcPts val="1000"/>
              </a:spcBef>
              <a:tabLst>
                <a:tab pos="0" algn="l"/>
              </a:tabLst>
            </a:pPr>
            <a:r>
              <a:rPr lang="en-US" sz="2800" b="1" spc="-1" dirty="0" smtClean="0">
                <a:solidFill>
                  <a:srgbClr val="000000"/>
                </a:solidFill>
                <a:latin typeface="Times New Roman" panose="02020603050405020304"/>
              </a:rPr>
              <a:t>Title Justification:</a:t>
            </a:r>
          </a:p>
          <a:p>
            <a:pPr algn="just">
              <a:spcBef>
                <a:spcPts val="1000"/>
              </a:spcBef>
              <a:tabLst>
                <a:tab pos="0" algn="l"/>
              </a:tabLst>
            </a:pPr>
            <a:r>
              <a:rPr lang="en-US" sz="2400" b="1" dirty="0" smtClean="0"/>
              <a:t>	</a:t>
            </a:r>
            <a:r>
              <a:rPr lang="en-US" sz="2200" b="1" dirty="0" smtClean="0">
                <a:latin typeface="Times New Roman" panose="02020603050405020304" pitchFamily="18" charset="0"/>
                <a:cs typeface="Times New Roman" panose="02020603050405020304" pitchFamily="18" charset="0"/>
              </a:rPr>
              <a:t>1. InternXpert: </a:t>
            </a:r>
            <a:r>
              <a:rPr lang="en-US" sz="2200" dirty="0" smtClean="0">
                <a:latin typeface="Times New Roman" panose="02020603050405020304" pitchFamily="18" charset="0"/>
                <a:cs typeface="Times New Roman" panose="02020603050405020304" pitchFamily="18" charset="0"/>
              </a:rPr>
              <a:t>Represents a smart expert-like system that guides students in choosing the right internships. Combines “Intern” and “Expert” to highlight intelligent, student-focused support.</a:t>
            </a:r>
          </a:p>
          <a:p>
            <a:pPr algn="just">
              <a:spcBef>
                <a:spcPts val="1000"/>
              </a:spcBef>
              <a:tabLst>
                <a:tab pos="0" algn="l"/>
              </a:tabLst>
            </a:pPr>
            <a:r>
              <a:rPr lang="en-US" sz="2200" b="1" dirty="0" smtClean="0">
                <a:latin typeface="Times New Roman" panose="02020603050405020304" pitchFamily="18" charset="0"/>
                <a:cs typeface="Times New Roman" panose="02020603050405020304" pitchFamily="18" charset="0"/>
              </a:rPr>
              <a:t>2. Smart: </a:t>
            </a:r>
            <a:r>
              <a:rPr lang="en-US" sz="2200" dirty="0" smtClean="0">
                <a:latin typeface="Times New Roman" panose="02020603050405020304" pitchFamily="18" charset="0"/>
                <a:cs typeface="Times New Roman" panose="02020603050405020304" pitchFamily="18" charset="0"/>
              </a:rPr>
              <a:t>Indicates that the platform uses intelligent features such as filtering, recommendations, and verification. Shows that the system is modern, automated, and efficient for users.</a:t>
            </a:r>
          </a:p>
          <a:p>
            <a:pPr algn="just">
              <a:spcBef>
                <a:spcPts val="1000"/>
              </a:spcBef>
              <a:tabLst>
                <a:tab pos="0" algn="l"/>
              </a:tabLst>
            </a:pPr>
            <a:r>
              <a:rPr lang="en-US" sz="2200" b="1" dirty="0" smtClean="0">
                <a:latin typeface="Times New Roman" panose="02020603050405020304" pitchFamily="18" charset="0"/>
                <a:cs typeface="Times New Roman" panose="02020603050405020304" pitchFamily="18" charset="0"/>
              </a:rPr>
              <a:t>3. Internship Explorer: </a:t>
            </a:r>
            <a:r>
              <a:rPr lang="en-US" sz="2200" dirty="0" smtClean="0">
                <a:latin typeface="Times New Roman" panose="02020603050405020304" pitchFamily="18" charset="0"/>
                <a:cs typeface="Times New Roman" panose="02020603050405020304" pitchFamily="18" charset="0"/>
              </a:rPr>
              <a:t>Highlights the platform’s role in helping students search, filter, and discover suitable internships. Ensures users can easily browse opportunities based on skills, domain, and preferences.</a:t>
            </a:r>
          </a:p>
          <a:p>
            <a:pPr algn="just">
              <a:spcBef>
                <a:spcPts val="1000"/>
              </a:spcBef>
              <a:tabLst>
                <a:tab pos="0" algn="l"/>
              </a:tabLst>
            </a:pPr>
            <a:r>
              <a:rPr lang="en-US" sz="2200" b="1" dirty="0" smtClean="0">
                <a:latin typeface="Times New Roman" panose="02020603050405020304" pitchFamily="18" charset="0"/>
                <a:cs typeface="Times New Roman" panose="02020603050405020304" pitchFamily="18" charset="0"/>
              </a:rPr>
              <a:t>4. Verification Portal: </a:t>
            </a:r>
            <a:r>
              <a:rPr lang="en-US" sz="2200" dirty="0" smtClean="0">
                <a:latin typeface="Times New Roman" panose="02020603050405020304" pitchFamily="18" charset="0"/>
                <a:cs typeface="Times New Roman" panose="02020603050405020304" pitchFamily="18" charset="0"/>
              </a:rPr>
              <a:t>Emphasizes the core feature of checking internship authenticity for student safety .Ensures trust by identifying fake, misleading, or unreliable internship listings.</a:t>
            </a:r>
            <a:endParaRPr lang="en-US" sz="2200" b="1"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l">
              <a:lnSpc>
                <a:spcPct val="90000"/>
              </a:lnSpc>
              <a:spcBef>
                <a:spcPts val="1000"/>
              </a:spcBef>
            </a:pPr>
            <a:r>
              <a:rPr lang="en-US" sz="4000" b="0" strike="noStrike" spc="-1" dirty="0">
                <a:solidFill>
                  <a:schemeClr val="bg1"/>
                </a:solidFill>
                <a:latin typeface="Times New Roman" panose="02020603050405020304"/>
              </a:rPr>
              <a:t>Abstract</a:t>
            </a:r>
            <a:endParaRPr lang="en-US" sz="4000" b="0" strike="noStrike" spc="-1" dirty="0">
              <a:solidFill>
                <a:schemeClr val="bg1"/>
              </a:solidFill>
              <a:latin typeface="Calibri" panose="020F0502020204030204"/>
            </a:endParaRPr>
          </a:p>
        </p:txBody>
      </p:sp>
      <p:sp>
        <p:nvSpPr>
          <p:cNvPr id="100" name="PlaceHolder 2"/>
          <p:cNvSpPr>
            <a:spLocks noGrp="1"/>
          </p:cNvSpPr>
          <p:nvPr>
            <p:ph/>
          </p:nvPr>
        </p:nvSpPr>
        <p:spPr>
          <a:xfrm>
            <a:off x="199440" y="1097280"/>
            <a:ext cx="11778840" cy="5394600"/>
          </a:xfrm>
          <a:prstGeom prst="rect">
            <a:avLst/>
          </a:prstGeom>
          <a:noFill/>
          <a:ln w="0">
            <a:noFill/>
          </a:ln>
        </p:spPr>
        <p:txBody>
          <a:bodyPr anchor="t">
            <a:noAutofit/>
          </a:bodyPr>
          <a:lstStyle/>
          <a:p>
            <a:pPr marL="342900" indent="-342900" algn="just">
              <a:spcBef>
                <a:spcPts val="600"/>
              </a:spcBef>
              <a:spcAft>
                <a:spcPts val="600"/>
              </a:spcAf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The rapid growth of online internship platforms has resulted in a large number of fake and misleading internship postings. This makes it difficult for students to identify genuine, safe, and trustworthy internship opportunities.</a:t>
            </a:r>
          </a:p>
          <a:p>
            <a:pPr marL="342900" indent="-342900" algn="just">
              <a:spcBef>
                <a:spcPts val="600"/>
              </a:spcBef>
              <a:spcAft>
                <a:spcPts val="600"/>
              </a:spcAf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Most existing platforms do not have strong mechanisms to verify the authenticity of internship providers. They also offer generic recommendations without considering individual student skills, interests, and preferences.</a:t>
            </a:r>
          </a:p>
          <a:p>
            <a:pPr marL="342900" indent="-342900" algn="just">
              <a:spcBef>
                <a:spcPts val="600"/>
              </a:spcBef>
              <a:spcAft>
                <a:spcPts val="600"/>
              </a:spcAf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To overcome these limitations, InternXpert: Smart Internship Explorer and Verification Portal is developed to ensure verified internships and reliable employer information for students.</a:t>
            </a:r>
          </a:p>
          <a:p>
            <a:pPr marL="342900" indent="-342900" algn="just">
              <a:spcBef>
                <a:spcPts val="600"/>
              </a:spcBef>
              <a:spcAft>
                <a:spcPts val="600"/>
              </a:spcAf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The system verifies company details using online verification techniques and analyzes internship postings to reduce fraudulent listings. It also provides intelligent recommendations using smart filtering based on skills, domain interests, and preferences.</a:t>
            </a:r>
          </a:p>
          <a:p>
            <a:pPr marL="342900" indent="-342900" algn="just">
              <a:spcBef>
                <a:spcPts val="600"/>
              </a:spcBef>
              <a:spcAft>
                <a:spcPts val="600"/>
              </a:spcAf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InternXpert enhances the overall internship search experience by improving matching accuracy and platform reliability. The solution reduces exposure to fake internships and provides a safer, smarter, and more informed internship exploration environment.</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Problem Statement</a:t>
            </a:r>
            <a:endParaRPr lang="en-US" sz="4400" b="0" strike="noStrike" spc="-1">
              <a:solidFill>
                <a:srgbClr val="000000"/>
              </a:solidFill>
              <a:latin typeface="Calibri" panose="020F0502020204030204"/>
            </a:endParaRPr>
          </a:p>
        </p:txBody>
      </p:sp>
      <p:sp>
        <p:nvSpPr>
          <p:cNvPr id="102" name="PlaceHolder 2"/>
          <p:cNvSpPr>
            <a:spLocks noGrp="1"/>
          </p:cNvSpPr>
          <p:nvPr>
            <p:ph/>
          </p:nvPr>
        </p:nvSpPr>
        <p:spPr>
          <a:xfrm>
            <a:off x="228600" y="1447800"/>
            <a:ext cx="11430360" cy="4724760"/>
          </a:xfrm>
          <a:prstGeom prst="rect">
            <a:avLst/>
          </a:prstGeom>
          <a:noFill/>
          <a:ln w="0">
            <a:noFill/>
          </a:ln>
        </p:spPr>
        <p:txBody>
          <a:bodyPr anchor="t">
            <a:normAutofit/>
          </a:bodyPr>
          <a:lstStyle/>
          <a:p>
            <a:pPr marL="457200" indent="-457200" algn="just">
              <a:lnSpc>
                <a:spcPct val="90000"/>
              </a:lnSpc>
              <a:spcBef>
                <a:spcPts val="1000"/>
              </a:spcBef>
              <a:buClr>
                <a:srgbClr val="000000"/>
              </a:buClr>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Students increasingly face fake and misleading internship postings, leading to exploitation and loss of trust.</a:t>
            </a:r>
          </a:p>
          <a:p>
            <a:pPr marL="457200" indent="-457200" algn="just">
              <a:lnSpc>
                <a:spcPct val="90000"/>
              </a:lnSpc>
              <a:spcBef>
                <a:spcPts val="1000"/>
              </a:spcBef>
              <a:buClr>
                <a:srgbClr val="000000"/>
              </a:buClr>
              <a:buFont typeface="Wingdings" panose="05000000000000000000" pitchFamily="2" charset="2"/>
              <a:buChar char=""/>
            </a:pPr>
            <a:r>
              <a:rPr lang="en-US" sz="2800" spc="-1" dirty="0" smtClean="0">
                <a:solidFill>
                  <a:srgbClr val="000000"/>
                </a:solidFill>
                <a:latin typeface="Times New Roman" panose="02020603050405020304"/>
              </a:rPr>
              <a:t>There is no reliable verification mechanism in existing platforms to ensure internship authenticity.</a:t>
            </a:r>
          </a:p>
          <a:p>
            <a:pPr marL="457200" indent="-457200" algn="just">
              <a:lnSpc>
                <a:spcPct val="90000"/>
              </a:lnSpc>
              <a:spcBef>
                <a:spcPts val="1000"/>
              </a:spcBef>
              <a:buClr>
                <a:srgbClr val="000000"/>
              </a:buClr>
              <a:buFont typeface="Wingdings" panose="05000000000000000000" pitchFamily="2" charset="2"/>
              <a:buChar char=""/>
            </a:pPr>
            <a:r>
              <a:rPr lang="en-US" sz="2800" b="0" strike="noStrike" spc="-1" dirty="0" smtClean="0">
                <a:solidFill>
                  <a:srgbClr val="000000"/>
                </a:solidFill>
                <a:latin typeface="Times New Roman" panose="02020603050405020304"/>
              </a:rPr>
              <a:t>Students struggles to find internships that match their skills, domain, and preferences due to poor filtering.</a:t>
            </a:r>
            <a:endParaRPr lang="en-US" sz="2800" spc="-1" dirty="0">
              <a:solidFill>
                <a:srgbClr val="000000"/>
              </a:solidFill>
              <a:latin typeface="Times New Roman" panose="02020603050405020304"/>
            </a:endParaRPr>
          </a:p>
          <a:p>
            <a:pPr marL="457200" indent="-457200" algn="just">
              <a:lnSpc>
                <a:spcPct val="90000"/>
              </a:lnSpc>
              <a:spcBef>
                <a:spcPts val="1000"/>
              </a:spcBef>
              <a:buClr>
                <a:srgbClr val="000000"/>
              </a:buClr>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There is a need for a centralized and intelligent system that provides verified internships, smart filtering, and safe exploration</a:t>
            </a:r>
            <a:r>
              <a:rPr lang="en-US" sz="2800" dirty="0" smtClean="0"/>
              <a:t>.</a:t>
            </a:r>
            <a:endParaRPr lang="en-US" sz="2800" b="0" strike="noStrike" spc="-1" dirty="0" smtClean="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Objectives of Project</a:t>
            </a:r>
            <a:endParaRPr lang="en-US" sz="4400" b="0" strike="noStrike" spc="-1">
              <a:solidFill>
                <a:srgbClr val="000000"/>
              </a:solidFill>
              <a:latin typeface="Calibri" panose="020F0502020204030204"/>
            </a:endParaRPr>
          </a:p>
        </p:txBody>
      </p:sp>
      <p:sp>
        <p:nvSpPr>
          <p:cNvPr id="104" name="PlaceHolder 2"/>
          <p:cNvSpPr>
            <a:spLocks noGrp="1"/>
          </p:cNvSpPr>
          <p:nvPr>
            <p:ph/>
          </p:nvPr>
        </p:nvSpPr>
        <p:spPr>
          <a:xfrm>
            <a:off x="304800" y="1295400"/>
            <a:ext cx="11673480" cy="5232480"/>
          </a:xfrm>
          <a:prstGeom prst="rect">
            <a:avLst/>
          </a:prstGeom>
          <a:noFill/>
          <a:ln w="0">
            <a:noFill/>
          </a:ln>
        </p:spPr>
        <p:txBody>
          <a:bodyPr anchor="t">
            <a:normAutofit/>
          </a:bodyPr>
          <a:lstStyle/>
          <a:p>
            <a:pPr algn="just">
              <a:lnSpc>
                <a:spcPct val="90000"/>
              </a:lnSpc>
              <a:spcBef>
                <a:spcPts val="1000"/>
              </a:spcBef>
              <a:tabLst>
                <a:tab pos="0" algn="l"/>
              </a:tabLst>
            </a:pPr>
            <a:r>
              <a:rPr lang="en-US" sz="2800" b="1" strike="noStrike" spc="-1" dirty="0" smtClean="0">
                <a:solidFill>
                  <a:srgbClr val="000000"/>
                </a:solidFill>
                <a:latin typeface="Times New Roman" panose="02020603050405020304"/>
              </a:rPr>
              <a:t>Research Objective 1:</a:t>
            </a:r>
          </a:p>
          <a:p>
            <a:pPr algn="just">
              <a:lnSpc>
                <a:spcPct val="90000"/>
              </a:lnSpc>
              <a:spcBef>
                <a:spcPts val="1000"/>
              </a:spcBef>
              <a:tabLst>
                <a:tab pos="0" algn="l"/>
              </a:tabLst>
            </a:pPr>
            <a:r>
              <a:rPr lang="en-US" sz="2800" b="0" strike="noStrike" spc="-1" dirty="0" smtClean="0">
                <a:solidFill>
                  <a:srgbClr val="000000"/>
                </a:solidFill>
                <a:latin typeface="Times New Roman" panose="02020603050405020304"/>
              </a:rPr>
              <a:t>		To develop a smart system that verifies the authenticity of internship listings, ensuring safe and reliable opportunities for students.</a:t>
            </a:r>
            <a:endParaRPr lang="en-US" sz="2800" b="0" strike="noStrike" spc="-1" dirty="0">
              <a:solidFill>
                <a:srgbClr val="000000"/>
              </a:solidFill>
              <a:latin typeface="Times New Roman" panose="02020603050405020304"/>
            </a:endParaRPr>
          </a:p>
          <a:p>
            <a:pPr algn="just">
              <a:lnSpc>
                <a:spcPct val="90000"/>
              </a:lnSpc>
              <a:spcBef>
                <a:spcPts val="1000"/>
              </a:spcBef>
              <a:tabLst>
                <a:tab pos="0" algn="l"/>
              </a:tabLst>
            </a:pPr>
            <a:r>
              <a:rPr lang="en-US" sz="2800" b="1" strike="noStrike" spc="-1" dirty="0" smtClean="0">
                <a:solidFill>
                  <a:srgbClr val="000000"/>
                </a:solidFill>
                <a:latin typeface="Times New Roman" panose="02020603050405020304"/>
              </a:rPr>
              <a:t>Research Objective 2:</a:t>
            </a:r>
          </a:p>
          <a:p>
            <a:pPr algn="just">
              <a:lnSpc>
                <a:spcPct val="90000"/>
              </a:lnSpc>
              <a:spcBef>
                <a:spcPts val="1000"/>
              </a:spcBef>
              <a:tabLst>
                <a:tab pos="0" algn="l"/>
              </a:tabLst>
            </a:pPr>
            <a:r>
              <a:rPr lang="en-US" sz="2800" b="0" strike="noStrike" spc="-1" dirty="0" smtClean="0">
                <a:solidFill>
                  <a:srgbClr val="000000"/>
                </a:solidFill>
                <a:latin typeface="Times New Roman" panose="02020603050405020304"/>
              </a:rPr>
              <a:t>		To design an intelligent internship exploration mechanism that filters and recommends opportunities based on students skills, domain preferences, and requirements.</a:t>
            </a:r>
            <a:endParaRPr lang="en-US" sz="2800" b="0" strike="noStrike" spc="-1" dirty="0">
              <a:solidFill>
                <a:srgbClr val="000000"/>
              </a:solidFill>
              <a:latin typeface="Times New Roman" panose="02020603050405020304"/>
            </a:endParaRPr>
          </a:p>
          <a:p>
            <a:pPr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a:p>
            <a:pPr algn="just">
              <a:lnSpc>
                <a:spcPct val="90000"/>
              </a:lnSpc>
              <a:spcBef>
                <a:spcPts val="1000"/>
              </a:spcBef>
              <a:tabLst>
                <a:tab pos="0" algn="l"/>
              </a:tabLst>
            </a:pPr>
            <a:r>
              <a:rPr lang="en-US" sz="2800" b="0" strike="noStrike" spc="-1" dirty="0">
                <a:solidFill>
                  <a:srgbClr val="000000"/>
                </a:solidFill>
                <a:latin typeface="Times New Roman" panose="02020603050405020304"/>
              </a:rPr>
              <a:t>                                                                                                             </a:t>
            </a:r>
          </a:p>
          <a:p>
            <a:pPr algn="just">
              <a:lnSpc>
                <a:spcPct val="90000"/>
              </a:lnSpc>
              <a:spcBef>
                <a:spcPts val="1000"/>
              </a:spcBef>
              <a:tabLst>
                <a:tab pos="0" algn="l"/>
              </a:tabLst>
            </a:pPr>
            <a:r>
              <a:rPr lang="en-US" sz="2800" b="0" strike="noStrike" spc="-1" dirty="0">
                <a:solidFill>
                  <a:srgbClr val="000000"/>
                </a:solidFill>
                <a:latin typeface="Times New Roman" panose="02020603050405020304"/>
              </a:rPr>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just">
              <a:lnSpc>
                <a:spcPct val="90000"/>
              </a:lnSpc>
              <a:spcBef>
                <a:spcPts val="1000"/>
              </a:spcBef>
            </a:pPr>
            <a:r>
              <a:rPr lang="en-US" sz="2800" b="0" strike="noStrike" spc="-1" dirty="0">
                <a:solidFill>
                  <a:schemeClr val="bg1"/>
                </a:solidFill>
                <a:latin typeface="Times New Roman" panose="02020603050405020304"/>
              </a:rPr>
              <a:t>Literature survey for objectives</a:t>
            </a:r>
            <a:endParaRPr lang="en-US" sz="2800" b="0" strike="noStrike" spc="-1" dirty="0">
              <a:solidFill>
                <a:schemeClr val="bg1"/>
              </a:solidFill>
              <a:latin typeface="Calibri" panose="020F0502020204030204"/>
            </a:endParaRPr>
          </a:p>
        </p:txBody>
      </p:sp>
      <p:sp>
        <p:nvSpPr>
          <p:cNvPr id="3" name="TextBox 2"/>
          <p:cNvSpPr txBox="1"/>
          <p:nvPr/>
        </p:nvSpPr>
        <p:spPr>
          <a:xfrm>
            <a:off x="304800" y="1371600"/>
            <a:ext cx="11201400" cy="5262979"/>
          </a:xfrm>
          <a:prstGeom prst="rect">
            <a:avLst/>
          </a:prstGeom>
          <a:noFill/>
        </p:spPr>
        <p:txBody>
          <a:bodyPr wrap="square" rtlCol="0">
            <a:spAutoFit/>
          </a:bodyPr>
          <a:lstStyle/>
          <a:p>
            <a:pPr algn="just"/>
            <a:r>
              <a:rPr lang="en-US" sz="2200" b="1" dirty="0" smtClean="0">
                <a:latin typeface="Times New Roman" panose="02020603050405020304" pitchFamily="18" charset="0"/>
                <a:cs typeface="Times New Roman" panose="02020603050405020304" pitchFamily="18" charset="0"/>
              </a:rPr>
              <a:t>1. </a:t>
            </a:r>
            <a:r>
              <a:rPr lang="en-US" sz="2200" b="1" dirty="0">
                <a:latin typeface="Times New Roman" panose="02020603050405020304" pitchFamily="18" charset="0"/>
                <a:cs typeface="Times New Roman" panose="02020603050405020304" pitchFamily="18" charset="0"/>
              </a:rPr>
              <a:t>Internship Authenticity Verification Models</a:t>
            </a:r>
          </a:p>
          <a:p>
            <a:pPr algn="just"/>
            <a:r>
              <a:rPr lang="en-US" sz="2200" dirty="0" smtClean="0">
                <a:latin typeface="Times New Roman" panose="02020603050405020304" pitchFamily="18" charset="0"/>
                <a:cs typeface="Times New Roman" panose="02020603050405020304" pitchFamily="18" charset="0"/>
              </a:rPr>
              <a:t>	Amaar </a:t>
            </a:r>
            <a:r>
              <a:rPr lang="en-US" sz="2200" dirty="0">
                <a:latin typeface="Times New Roman" panose="02020603050405020304" pitchFamily="18" charset="0"/>
                <a:cs typeface="Times New Roman" panose="02020603050405020304" pitchFamily="18" charset="0"/>
              </a:rPr>
              <a:t>et al. (Neural Processing Letters, 2022) proposed a machine learning and NLP-based approach to detect fake job postings using techniques such as TF-IDF, Bag-of-Words, and supervised classifiers. The model achieved high accuracy in identifying fraudulent job advertisements and helped improve trust in online recruitment platforms. However, the study focused only on detection and did not integrate internship recommendation or user-specific filtering mechanisms</a:t>
            </a:r>
            <a:r>
              <a:rPr lang="en-US" sz="2200" dirty="0" smtClean="0">
                <a:latin typeface="Times New Roman" panose="02020603050405020304" pitchFamily="18" charset="0"/>
                <a:cs typeface="Times New Roman" panose="02020603050405020304" pitchFamily="18" charset="0"/>
              </a:rPr>
              <a:t>.</a:t>
            </a:r>
          </a:p>
          <a:p>
            <a:pPr algn="just"/>
            <a:endParaRPr lang="en-US" sz="2200" dirty="0">
              <a:latin typeface="Times New Roman" panose="02020603050405020304" pitchFamily="18" charset="0"/>
              <a:cs typeface="Times New Roman" panose="02020603050405020304" pitchFamily="18" charset="0"/>
            </a:endParaRPr>
          </a:p>
          <a:p>
            <a:pPr algn="just"/>
            <a:r>
              <a:rPr lang="en-US" sz="2200" b="1" dirty="0">
                <a:latin typeface="Times New Roman" panose="02020603050405020304" pitchFamily="18" charset="0"/>
                <a:cs typeface="Times New Roman" panose="02020603050405020304" pitchFamily="18" charset="0"/>
              </a:rPr>
              <a:t>2. Skill-Based Recommendation Frameworks</a:t>
            </a:r>
          </a:p>
          <a:p>
            <a:pPr algn="just"/>
            <a:r>
              <a:rPr lang="en-US" sz="2200" dirty="0" smtClean="0">
                <a:latin typeface="Times New Roman" panose="02020603050405020304" pitchFamily="18" charset="0"/>
                <a:cs typeface="Times New Roman" panose="02020603050405020304" pitchFamily="18" charset="0"/>
              </a:rPr>
              <a:t>	Ghosh </a:t>
            </a:r>
            <a:r>
              <a:rPr lang="en-US" sz="2200" dirty="0">
                <a:latin typeface="Times New Roman" panose="02020603050405020304" pitchFamily="18" charset="0"/>
                <a:cs typeface="Times New Roman" panose="02020603050405020304" pitchFamily="18" charset="0"/>
              </a:rPr>
              <a:t>et al. (IEEE International Conference on Big Data, 2020) presented a skill-based career path modeling and recommendation framework that analyzed user skills and mapped them to suitable career opportunities. The approach improved the relevance of recommendations through intelligent skill modeling. However, the system did not consider the authenticity verification of job or internship providers, limiting its ability to ensure safe internship exploration.</a:t>
            </a:r>
          </a:p>
          <a:p>
            <a:pPr algn="just"/>
            <a:endParaRPr 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p:nvPr>
        </p:nvSpPr>
        <p:spPr>
          <a:xfrm>
            <a:off x="199440" y="1600200"/>
            <a:ext cx="11288520" cy="4559400"/>
          </a:xfrm>
          <a:prstGeom prst="rect">
            <a:avLst/>
          </a:prstGeom>
          <a:solidFill>
            <a:srgbClr val="FFFFFF"/>
          </a:solidFill>
          <a:ln w="12600">
            <a:solidFill>
              <a:srgbClr val="FFFFFF"/>
            </a:solidFill>
            <a:miter/>
          </a:ln>
        </p:spPr>
        <p:txBody>
          <a:bodyPr anchor="t">
            <a:noAutofit/>
          </a:bodyPr>
          <a:lstStyle/>
          <a:p>
            <a:pPr marL="457200" indent="-457200" algn="just">
              <a:lnSpc>
                <a:spcPct val="90000"/>
              </a:lnSpc>
              <a:spcBef>
                <a:spcPts val="1000"/>
              </a:spcBef>
              <a:buClr>
                <a:srgbClr val="000000"/>
              </a:buClr>
              <a:buFont typeface="Wingdings" panose="05000000000000000000" pitchFamily="2" charset="2"/>
              <a:buChar char=""/>
            </a:pPr>
            <a:r>
              <a:rPr lang="en-US" sz="2400" b="0" strike="noStrike" spc="-1" dirty="0" smtClean="0">
                <a:solidFill>
                  <a:srgbClr val="000000"/>
                </a:solidFill>
                <a:latin typeface="Times New Roman" panose="02020603050405020304"/>
              </a:rPr>
              <a:t>The proposed system </a:t>
            </a:r>
            <a:r>
              <a:rPr lang="en-US" sz="2400" b="1" strike="noStrike" spc="-1" dirty="0" smtClean="0">
                <a:solidFill>
                  <a:srgbClr val="000000"/>
                </a:solidFill>
                <a:latin typeface="Times New Roman" panose="02020603050405020304"/>
              </a:rPr>
              <a:t>InternXpert</a:t>
            </a:r>
            <a:r>
              <a:rPr lang="en-US" sz="2400" b="0" strike="noStrike" spc="-1" dirty="0" smtClean="0">
                <a:solidFill>
                  <a:srgbClr val="000000"/>
                </a:solidFill>
                <a:latin typeface="Times New Roman" panose="02020603050405020304"/>
              </a:rPr>
              <a:t> provides a secure platform that verifies internship authenticity by checking company information and source credibility.</a:t>
            </a:r>
          </a:p>
          <a:p>
            <a:pPr marL="457200" indent="-457200" algn="just">
              <a:lnSpc>
                <a:spcPct val="90000"/>
              </a:lnSpc>
              <a:spcBef>
                <a:spcPts val="1000"/>
              </a:spcBef>
              <a:buClr>
                <a:srgbClr val="000000"/>
              </a:buClr>
              <a:buFont typeface="Wingdings" panose="05000000000000000000" pitchFamily="2" charset="2"/>
              <a:buChar char=""/>
            </a:pPr>
            <a:r>
              <a:rPr lang="en-US" sz="2400" b="0" strike="noStrike" spc="-1" dirty="0" smtClean="0">
                <a:solidFill>
                  <a:srgbClr val="000000"/>
                </a:solidFill>
                <a:latin typeface="Times New Roman" panose="02020603050405020304"/>
              </a:rPr>
              <a:t>A </a:t>
            </a:r>
            <a:r>
              <a:rPr lang="en-US" sz="2400" b="1" strike="noStrike" spc="-1" dirty="0" smtClean="0">
                <a:solidFill>
                  <a:srgbClr val="000000"/>
                </a:solidFill>
                <a:latin typeface="Times New Roman" panose="02020603050405020304"/>
              </a:rPr>
              <a:t>smart internship explorer</a:t>
            </a:r>
            <a:r>
              <a:rPr lang="en-US" sz="2400" b="0" strike="noStrike" spc="-1" dirty="0" smtClean="0">
                <a:solidFill>
                  <a:srgbClr val="000000"/>
                </a:solidFill>
                <a:latin typeface="Times New Roman" panose="02020603050405020304"/>
              </a:rPr>
              <a:t> allows students to search and filter opportunities based on domain, skills, stipend, work mode, and preferences.</a:t>
            </a:r>
          </a:p>
          <a:p>
            <a:pPr marL="457200" indent="-457200" algn="just">
              <a:lnSpc>
                <a:spcPct val="90000"/>
              </a:lnSpc>
              <a:spcBef>
                <a:spcPts val="1000"/>
              </a:spcBef>
              <a:buClr>
                <a:srgbClr val="000000"/>
              </a:buClr>
              <a:buFont typeface="Wingdings" panose="05000000000000000000" pitchFamily="2" charset="2"/>
              <a:buChar char=""/>
            </a:pPr>
            <a:r>
              <a:rPr lang="en-US" sz="2400" b="0" strike="noStrike" spc="-1" dirty="0" smtClean="0">
                <a:solidFill>
                  <a:srgbClr val="000000"/>
                </a:solidFill>
                <a:latin typeface="Times New Roman" panose="02020603050405020304"/>
              </a:rPr>
              <a:t>A </a:t>
            </a:r>
            <a:r>
              <a:rPr lang="en-US" sz="2400" b="1" strike="noStrike" spc="-1" dirty="0" smtClean="0">
                <a:solidFill>
                  <a:srgbClr val="000000"/>
                </a:solidFill>
                <a:latin typeface="Times New Roman" panose="02020603050405020304"/>
              </a:rPr>
              <a:t>recommendation module </a:t>
            </a:r>
            <a:r>
              <a:rPr lang="en-US" sz="2400" b="0" strike="noStrike" spc="-1" dirty="0" smtClean="0">
                <a:solidFill>
                  <a:srgbClr val="000000"/>
                </a:solidFill>
                <a:latin typeface="Times New Roman" panose="02020603050405020304"/>
              </a:rPr>
              <a:t>suggests suitable internships according to user profiles and selected filters to improve search relevance.</a:t>
            </a:r>
          </a:p>
          <a:p>
            <a:pPr marL="457200" indent="-457200" algn="just">
              <a:lnSpc>
                <a:spcPct val="90000"/>
              </a:lnSpc>
              <a:spcBef>
                <a:spcPts val="1000"/>
              </a:spcBef>
              <a:buClr>
                <a:srgbClr val="000000"/>
              </a:buClr>
              <a:buFont typeface="Wingdings" panose="05000000000000000000" pitchFamily="2" charset="2"/>
              <a:buChar char=""/>
            </a:pPr>
            <a:r>
              <a:rPr lang="en-US" sz="2400" b="0" strike="noStrike" spc="-1" dirty="0" smtClean="0">
                <a:solidFill>
                  <a:srgbClr val="000000"/>
                </a:solidFill>
                <a:latin typeface="Times New Roman" panose="02020603050405020304"/>
              </a:rPr>
              <a:t>An optional </a:t>
            </a:r>
            <a:r>
              <a:rPr lang="en-US" sz="2400" b="1" strike="noStrike" spc="-1" dirty="0" smtClean="0">
                <a:solidFill>
                  <a:srgbClr val="000000"/>
                </a:solidFill>
                <a:latin typeface="Times New Roman" panose="02020603050405020304"/>
              </a:rPr>
              <a:t>chatbot assistant </a:t>
            </a:r>
            <a:r>
              <a:rPr lang="en-US" sz="2400" b="0" strike="noStrike" spc="-1" dirty="0" smtClean="0">
                <a:solidFill>
                  <a:srgbClr val="000000"/>
                </a:solidFill>
                <a:latin typeface="Times New Roman" panose="02020603050405020304"/>
              </a:rPr>
              <a:t>guides users by capturing their requirements and helping them navigate the system more easily.</a:t>
            </a:r>
          </a:p>
          <a:p>
            <a:pPr marL="457200" indent="-457200" algn="just">
              <a:lnSpc>
                <a:spcPct val="90000"/>
              </a:lnSpc>
              <a:spcBef>
                <a:spcPts val="1000"/>
              </a:spcBef>
              <a:buClr>
                <a:srgbClr val="000000"/>
              </a:buClr>
              <a:buFont typeface="Wingdings" panose="05000000000000000000" pitchFamily="2" charset="2"/>
              <a:buChar char=""/>
            </a:pPr>
            <a:r>
              <a:rPr lang="en-US" sz="2400" b="0" strike="noStrike" spc="-1" dirty="0" smtClean="0">
                <a:solidFill>
                  <a:srgbClr val="000000"/>
                </a:solidFill>
                <a:latin typeface="Times New Roman" panose="02020603050405020304"/>
              </a:rPr>
              <a:t>A </a:t>
            </a:r>
            <a:r>
              <a:rPr lang="en-US" sz="2400" b="1" strike="noStrike" spc="-1" dirty="0" smtClean="0">
                <a:solidFill>
                  <a:srgbClr val="000000"/>
                </a:solidFill>
                <a:latin typeface="Times New Roman" panose="02020603050405020304"/>
              </a:rPr>
              <a:t>simple and user-friendly interface </a:t>
            </a:r>
            <a:r>
              <a:rPr lang="en-US" sz="2400" b="0" strike="noStrike" spc="-1" dirty="0" smtClean="0">
                <a:solidFill>
                  <a:srgbClr val="000000"/>
                </a:solidFill>
                <a:latin typeface="Times New Roman" panose="02020603050405020304"/>
              </a:rPr>
              <a:t>enables students to browse verified internships, receive accurate results, and stay updated through optional notifications.</a:t>
            </a:r>
            <a:endParaRPr lang="en-US" sz="2400" b="0" strike="noStrike" spc="-1" dirty="0">
              <a:solidFill>
                <a:srgbClr val="000000"/>
              </a:solidFill>
              <a:latin typeface="Times New Roman" panose="02020603050405020304"/>
            </a:endParaRPr>
          </a:p>
        </p:txBody>
      </p:sp>
      <p:sp>
        <p:nvSpPr>
          <p:cNvPr id="110" name="PlaceHolder 2"/>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Proposed System</a:t>
            </a:r>
            <a:endParaRPr lang="en-US" sz="4400" b="0" strike="noStrike" spc="-1">
              <a:solidFill>
                <a:srgbClr val="000000"/>
              </a:solidFill>
              <a:latin typeface="Calibri" panose="020F0502020204030204"/>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a:solidFill>
                  <a:srgbClr val="FFFFFF"/>
                </a:solidFill>
                <a:latin typeface="Times New Roman" panose="02020603050405020304"/>
              </a:rPr>
              <a:t> Reference</a:t>
            </a:r>
            <a:r>
              <a:rPr lang="en-US" sz="4400" b="0" strike="noStrike" spc="-1">
                <a:solidFill>
                  <a:srgbClr val="FFFFFF"/>
                </a:solidFill>
                <a:latin typeface="Times New Roman" panose="02020603050405020304"/>
              </a:rPr>
              <a:t>s</a:t>
            </a:r>
            <a:endParaRPr lang="en-US" sz="4400" b="0" strike="noStrike" spc="-1">
              <a:solidFill>
                <a:srgbClr val="000000"/>
              </a:solidFill>
              <a:latin typeface="Calibri" panose="020F0502020204030204"/>
            </a:endParaRPr>
          </a:p>
        </p:txBody>
      </p:sp>
      <p:sp>
        <p:nvSpPr>
          <p:cNvPr id="112" name="PlaceHolder 2"/>
          <p:cNvSpPr>
            <a:spLocks noGrp="1"/>
          </p:cNvSpPr>
          <p:nvPr>
            <p:ph/>
          </p:nvPr>
        </p:nvSpPr>
        <p:spPr>
          <a:xfrm>
            <a:off x="228600" y="1371600"/>
            <a:ext cx="11749680" cy="5120280"/>
          </a:xfrm>
          <a:prstGeom prst="rect">
            <a:avLst/>
          </a:prstGeom>
          <a:noFill/>
          <a:ln w="0">
            <a:noFill/>
          </a:ln>
        </p:spPr>
        <p:txBody>
          <a:bodyPr anchor="t">
            <a:noAutofit/>
          </a:bodyPr>
          <a:lstStyle/>
          <a:p>
            <a:pPr algn="just"/>
            <a:r>
              <a:rPr lang="en-US" sz="2400" b="1" dirty="0" smtClean="0">
                <a:latin typeface="Times New Roman" panose="02020603050405020304" pitchFamily="18" charset="0"/>
                <a:cs typeface="Times New Roman" panose="02020603050405020304" pitchFamily="18" charset="0"/>
              </a:rPr>
              <a:t>[1] </a:t>
            </a:r>
            <a:r>
              <a:rPr lang="en-US" sz="2400" dirty="0" smtClean="0">
                <a:latin typeface="Times New Roman" panose="02020603050405020304" pitchFamily="18" charset="0"/>
                <a:cs typeface="Times New Roman" panose="02020603050405020304" pitchFamily="18" charset="0"/>
              </a:rPr>
              <a:t>A. Amaar, W. Aljedaani, F. Rustam et al., “Detection of Fake Job Postings Using Machine Learning and Natural Language Processing,” Neural Processing Letters, Springer, vol. 54, pp. 2219–2247, 2022.Focuses on detecting fake job/internship postings using ML and NLP techniques to ensure authenticity.</a:t>
            </a: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cs typeface="Times New Roman" panose="02020603050405020304" pitchFamily="18" charset="0"/>
              </a:rPr>
              <a:t>[2] </a:t>
            </a:r>
            <a:r>
              <a:rPr lang="en-US" sz="2400" dirty="0" smtClean="0">
                <a:latin typeface="Times New Roman" panose="02020603050405020304" pitchFamily="18" charset="0"/>
                <a:cs typeface="Times New Roman" panose="02020603050405020304" pitchFamily="18" charset="0"/>
              </a:rPr>
              <a:t>A.Ghosh, B. Woolf, S. Zilberstein, and A. Lan, “Skill-Based Career Path Modeling and Recommendation, ”IEEE International Conference on Big Data, 2020.Proposes skill-based modeling and intelligent recommendation mechanisms for career opportunities.</a:t>
            </a: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cs typeface="Times New Roman" panose="02020603050405020304" pitchFamily="18" charset="0"/>
              </a:rPr>
              <a:t>[3] </a:t>
            </a:r>
            <a:r>
              <a:rPr lang="en-US" sz="2400" dirty="0" smtClean="0">
                <a:latin typeface="Times New Roman" panose="02020603050405020304" pitchFamily="18" charset="0"/>
                <a:cs typeface="Times New Roman" panose="02020603050405020304" pitchFamily="18" charset="0"/>
              </a:rPr>
              <a:t>A.S. Pillai, “Detecting Fake Job Postings Using Bidirectional LSTM,” arXiv preprint, arXiv:2304.02019, 2023. Uses deep learning (BiLSTM) for automated detection of fraudulent job postings.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a:solidFill>
                  <a:srgbClr val="FFFFFF"/>
                </a:solidFill>
                <a:latin typeface="Times New Roman" panose="02020603050405020304"/>
              </a:rPr>
              <a:t>Git Hub Dashboards of each student</a:t>
            </a:r>
            <a:endParaRPr lang="en-US" sz="4400" b="0" strike="noStrike" spc="-1">
              <a:solidFill>
                <a:srgbClr val="000000"/>
              </a:solidFill>
              <a:latin typeface="Calibri" panose="020F0502020204030204"/>
            </a:endParaRPr>
          </a:p>
        </p:txBody>
      </p:sp>
      <p:sp>
        <p:nvSpPr>
          <p:cNvPr id="3" name="Text Box 2"/>
          <p:cNvSpPr txBox="1"/>
          <p:nvPr/>
        </p:nvSpPr>
        <p:spPr>
          <a:xfrm>
            <a:off x="838200" y="5943600"/>
            <a:ext cx="8686800" cy="381000"/>
          </a:xfrm>
          <a:prstGeom prst="rect">
            <a:avLst/>
          </a:prstGeom>
          <a:noFill/>
        </p:spPr>
        <p:txBody>
          <a:bodyPr wrap="square" rtlCol="0">
            <a:noAutofit/>
          </a:bodyPr>
          <a:lstStyle/>
          <a:p>
            <a:r>
              <a:rPr lang="en-US" sz="2000" dirty="0" smtClean="0">
                <a:latin typeface="Times New Roman" panose="02020603050405020304" pitchFamily="18" charset="0"/>
                <a:cs typeface="Times New Roman" panose="02020603050405020304" pitchFamily="18" charset="0"/>
              </a:rPr>
              <a:t>Link </a:t>
            </a:r>
            <a:r>
              <a:rPr lang="en-US" sz="2000" dirty="0">
                <a:latin typeface="Times New Roman" panose="02020603050405020304" pitchFamily="18" charset="0"/>
                <a:cs typeface="Times New Roman" panose="02020603050405020304" pitchFamily="18" charset="0"/>
              </a:rPr>
              <a:t>of the </a:t>
            </a:r>
            <a:r>
              <a:rPr lang="en-US" sz="2000" dirty="0" smtClean="0">
                <a:latin typeface="Times New Roman" panose="02020603050405020304" pitchFamily="18" charset="0"/>
                <a:cs typeface="Times New Roman" panose="02020603050405020304" pitchFamily="18" charset="0"/>
              </a:rPr>
              <a:t>GitHub: </a:t>
            </a:r>
            <a:r>
              <a:rPr lang="en-US" sz="2000" u="sng" dirty="0" smtClean="0">
                <a:latin typeface="Times New Roman" panose="02020603050405020304" pitchFamily="18" charset="0"/>
                <a:cs typeface="Times New Roman" panose="02020603050405020304" pitchFamily="18" charset="0"/>
                <a:hlinkClick r:id="rId2"/>
              </a:rPr>
              <a:t>https://github.com/ThimmisettyDevi/CSE-2022-26-Batch-A7</a:t>
            </a:r>
            <a:endParaRPr lang="en-US" sz="2000" u="sng"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1021083"/>
            <a:ext cx="9185988" cy="4880056"/>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
          <p:cNvSpPr/>
          <p:nvPr/>
        </p:nvSpPr>
        <p:spPr>
          <a:xfrm>
            <a:off x="2632680" y="2375640"/>
            <a:ext cx="6848640" cy="16549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7000"/>
              </a:lnSpc>
              <a:spcAft>
                <a:spcPts val="800"/>
              </a:spcAft>
            </a:pPr>
            <a:r>
              <a:rPr lang="en-US" sz="9600" b="0" i="1" strike="noStrike" spc="-1">
                <a:solidFill>
                  <a:srgbClr val="FF6600"/>
                </a:solidFill>
                <a:latin typeface="Times New Roman" panose="02020603050405020304"/>
                <a:ea typeface="Calibri" panose="020F0502020204030204"/>
              </a:rPr>
              <a:t>Any Queries?</a:t>
            </a:r>
            <a:endParaRPr lang="en-IN" sz="9600" b="0" strike="noStrike" spc="-1">
              <a:latin typeface="Arial" panose="020B0604020202020204"/>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1642</TotalTime>
  <Words>638</Words>
  <Application>Microsoft Office PowerPoint</Application>
  <PresentationFormat>Widescreen</PresentationFormat>
  <Paragraphs>76</Paragraphs>
  <Slides>11</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Arial</vt:lpstr>
      <vt:lpstr>Calibri</vt:lpstr>
      <vt:lpstr>Courier New</vt:lpstr>
      <vt:lpstr>DejaVu Sans</vt:lpstr>
      <vt:lpstr>Symbol</vt:lpstr>
      <vt:lpstr>Times New Roman</vt:lpstr>
      <vt:lpstr>Wingdings</vt:lpstr>
      <vt:lpstr>Office Theme</vt:lpstr>
      <vt:lpstr>Office Theme</vt:lpstr>
      <vt:lpstr>PowerPoint Presentation</vt:lpstr>
      <vt:lpstr>Contents</vt:lpstr>
      <vt:lpstr>Title Justification</vt:lpstr>
      <vt:lpstr>Abstract</vt:lpstr>
      <vt:lpstr>Problem Statement</vt:lpstr>
      <vt:lpstr>Objectives of Project</vt:lpstr>
      <vt:lpstr>Literature survey for objectives</vt:lpstr>
      <vt:lpstr>Proposed System</vt:lpstr>
      <vt:lpstr> References</vt:lpstr>
      <vt:lpstr>Git Hub Dashboards of each student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Thimmisetty Devi Sree</cp:lastModifiedBy>
  <cp:revision>187</cp:revision>
  <dcterms:created xsi:type="dcterms:W3CDTF">2019-06-11T05:35:00Z</dcterms:created>
  <dcterms:modified xsi:type="dcterms:W3CDTF">2025-12-24T05:35:28Z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9BB83942808244A299B002FD6DDC753B</vt:lpwstr>
  </property>
  <property fmtid="{D5CDD505-2E9C-101B-9397-08002B2CF9AE}" pid="3" name="KSOProductBuildVer">
    <vt:lpwstr>1033-12.2.0.18639</vt:lpwstr>
  </property>
  <property fmtid="{D5CDD505-2E9C-101B-9397-08002B2CF9AE}" pid="4" name="PresentationFormat">
    <vt:lpwstr>Widescreen</vt:lpwstr>
  </property>
  <property fmtid="{D5CDD505-2E9C-101B-9397-08002B2CF9AE}" pid="5" name="Slides">
    <vt:i4>8</vt:i4>
  </property>
</Properties>
</file>